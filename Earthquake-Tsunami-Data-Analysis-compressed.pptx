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0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1089" y="3315131"/>
            <a:ext cx="9598660" cy="703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0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0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67487" y="1018575"/>
            <a:ext cx="5767070" cy="149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6971" y="2914891"/>
            <a:ext cx="6668134" cy="2259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1F5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0735" algn="l"/>
                <a:tab pos="7262495" algn="l"/>
              </a:tabLst>
            </a:pPr>
            <a:r>
              <a:rPr dirty="0" spc="-10"/>
              <a:t>Earthquake–Tsunami</a:t>
            </a:r>
            <a:r>
              <a:rPr dirty="0"/>
              <a:t>	</a:t>
            </a:r>
            <a:r>
              <a:rPr dirty="0" spc="-20"/>
              <a:t>Data</a:t>
            </a:r>
            <a:r>
              <a:rPr dirty="0"/>
              <a:t>	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089" y="4341240"/>
            <a:ext cx="12381865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comprehensive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analysis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exploring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seismic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patterns,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magnitude-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relationships,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indicators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identify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critical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insights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about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behavior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potential.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695400"/>
            <a:ext cx="890587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08350" algn="l"/>
                <a:tab pos="6633845" algn="l"/>
              </a:tabLst>
            </a:pPr>
            <a:r>
              <a:rPr dirty="0" spc="-10"/>
              <a:t>Geographic</a:t>
            </a:r>
            <a:r>
              <a:rPr dirty="0"/>
              <a:t>	</a:t>
            </a:r>
            <a:r>
              <a:rPr dirty="0" spc="-10"/>
              <a:t>Distribution</a:t>
            </a:r>
            <a:r>
              <a:rPr dirty="0"/>
              <a:t>	</a:t>
            </a:r>
            <a:r>
              <a:rPr dirty="0" spc="-10"/>
              <a:t>Patterns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1994065"/>
            <a:ext cx="7604290" cy="531864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946400" y="1980133"/>
            <a:ext cx="4606290" cy="2553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F1F5F9"/>
                </a:solidFill>
                <a:latin typeface="Arial"/>
                <a:cs typeface="Arial"/>
              </a:rPr>
              <a:t>Global</a:t>
            </a:r>
            <a:r>
              <a:rPr dirty="0" sz="2200" spc="-6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1F5F9"/>
                </a:solidFill>
                <a:latin typeface="Arial"/>
                <a:cs typeface="Arial"/>
              </a:rPr>
              <a:t>Seismic</a:t>
            </a:r>
            <a:r>
              <a:rPr dirty="0" sz="2200" spc="-6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1F5F9"/>
                </a:solidFill>
                <a:latin typeface="Arial"/>
                <a:cs typeface="Arial"/>
              </a:rPr>
              <a:t>Activity</a:t>
            </a:r>
            <a:endParaRPr sz="2200">
              <a:latin typeface="Arial"/>
              <a:cs typeface="Arial"/>
            </a:endParaRPr>
          </a:p>
          <a:p>
            <a:pPr marL="12700" marR="66675">
              <a:lnSpc>
                <a:spcPct val="109500"/>
              </a:lnSpc>
              <a:spcBef>
                <a:spcPts val="179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Earthquake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events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plotted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by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latitude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and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longitude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reveal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distinct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geographical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patterns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across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tectonic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boundaries.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67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Regional</a:t>
            </a:r>
            <a:r>
              <a:rPr dirty="0" sz="1750" spc="-1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clustering</a:t>
            </a:r>
            <a:r>
              <a:rPr dirty="0" sz="1750" spc="-10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indicates</a:t>
            </a:r>
            <a:r>
              <a:rPr dirty="0" sz="1750" spc="-10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localized</a:t>
            </a:r>
            <a:r>
              <a:rPr dirty="0" sz="1750" spc="-1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tectonic vulnerability,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particularly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coastal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and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subduction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zones.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476019"/>
            <a:ext cx="6898640" cy="1498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  <a:tabLst>
                <a:tab pos="2491740" algn="l"/>
                <a:tab pos="3277235" algn="l"/>
              </a:tabLst>
            </a:pPr>
            <a:r>
              <a:rPr dirty="0" spc="-10"/>
              <a:t>Tsunami</a:t>
            </a:r>
            <a:r>
              <a:rPr dirty="0"/>
              <a:t>	</a:t>
            </a:r>
            <a:r>
              <a:rPr dirty="0" spc="-25"/>
              <a:t>vs</a:t>
            </a:r>
            <a:r>
              <a:rPr dirty="0"/>
              <a:t>	</a:t>
            </a:r>
            <a:r>
              <a:rPr dirty="0" spc="-10"/>
              <a:t>Non-Tsunami Events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82359" y="3303625"/>
            <a:ext cx="7579359" cy="1616710"/>
            <a:chOff x="782359" y="3303625"/>
            <a:chExt cx="7579359" cy="1616710"/>
          </a:xfrm>
        </p:grpSpPr>
        <p:sp>
          <p:nvSpPr>
            <p:cNvPr id="5" name="object 5" descr=""/>
            <p:cNvSpPr/>
            <p:nvPr/>
          </p:nvSpPr>
          <p:spPr>
            <a:xfrm>
              <a:off x="793789" y="3315055"/>
              <a:ext cx="7556500" cy="1593850"/>
            </a:xfrm>
            <a:custGeom>
              <a:avLst/>
              <a:gdLst/>
              <a:ahLst/>
              <a:cxnLst/>
              <a:rect l="l" t="t" r="r" b="b"/>
              <a:pathLst>
                <a:path w="7556500" h="1593850">
                  <a:moveTo>
                    <a:pt x="7461161" y="0"/>
                  </a:moveTo>
                  <a:lnTo>
                    <a:pt x="95261" y="0"/>
                  </a:lnTo>
                  <a:lnTo>
                    <a:pt x="58330" y="7535"/>
                  </a:lnTo>
                  <a:lnTo>
                    <a:pt x="28033" y="28033"/>
                  </a:lnTo>
                  <a:lnTo>
                    <a:pt x="7535" y="58330"/>
                  </a:lnTo>
                  <a:lnTo>
                    <a:pt x="0" y="95262"/>
                  </a:lnTo>
                  <a:lnTo>
                    <a:pt x="0" y="1498269"/>
                  </a:lnTo>
                  <a:lnTo>
                    <a:pt x="7535" y="1535201"/>
                  </a:lnTo>
                  <a:lnTo>
                    <a:pt x="28033" y="1565498"/>
                  </a:lnTo>
                  <a:lnTo>
                    <a:pt x="58330" y="1585996"/>
                  </a:lnTo>
                  <a:lnTo>
                    <a:pt x="95261" y="1593532"/>
                  </a:lnTo>
                  <a:lnTo>
                    <a:pt x="7461161" y="1593532"/>
                  </a:lnTo>
                  <a:lnTo>
                    <a:pt x="7498093" y="1585996"/>
                  </a:lnTo>
                  <a:lnTo>
                    <a:pt x="7528390" y="1565498"/>
                  </a:lnTo>
                  <a:lnTo>
                    <a:pt x="7548888" y="1535201"/>
                  </a:lnTo>
                  <a:lnTo>
                    <a:pt x="7556423" y="1498269"/>
                  </a:lnTo>
                  <a:lnTo>
                    <a:pt x="7556423" y="95262"/>
                  </a:lnTo>
                  <a:lnTo>
                    <a:pt x="7548888" y="58330"/>
                  </a:lnTo>
                  <a:lnTo>
                    <a:pt x="7528390" y="28033"/>
                  </a:lnTo>
                  <a:lnTo>
                    <a:pt x="7498093" y="7535"/>
                  </a:lnTo>
                  <a:lnTo>
                    <a:pt x="7461161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3789" y="3315055"/>
              <a:ext cx="7556500" cy="1593850"/>
            </a:xfrm>
            <a:custGeom>
              <a:avLst/>
              <a:gdLst/>
              <a:ahLst/>
              <a:cxnLst/>
              <a:rect l="l" t="t" r="r" b="b"/>
              <a:pathLst>
                <a:path w="7556500" h="1593850">
                  <a:moveTo>
                    <a:pt x="0" y="95262"/>
                  </a:moveTo>
                  <a:lnTo>
                    <a:pt x="7535" y="58330"/>
                  </a:lnTo>
                  <a:lnTo>
                    <a:pt x="28033" y="28033"/>
                  </a:lnTo>
                  <a:lnTo>
                    <a:pt x="58330" y="7535"/>
                  </a:lnTo>
                  <a:lnTo>
                    <a:pt x="95261" y="0"/>
                  </a:lnTo>
                  <a:lnTo>
                    <a:pt x="7461161" y="0"/>
                  </a:lnTo>
                  <a:lnTo>
                    <a:pt x="7498093" y="7535"/>
                  </a:lnTo>
                  <a:lnTo>
                    <a:pt x="7528390" y="28033"/>
                  </a:lnTo>
                  <a:lnTo>
                    <a:pt x="7548888" y="58330"/>
                  </a:lnTo>
                  <a:lnTo>
                    <a:pt x="7556423" y="95262"/>
                  </a:lnTo>
                  <a:lnTo>
                    <a:pt x="7556423" y="1498269"/>
                  </a:lnTo>
                  <a:lnTo>
                    <a:pt x="7548888" y="1535201"/>
                  </a:lnTo>
                  <a:lnTo>
                    <a:pt x="7528390" y="1565498"/>
                  </a:lnTo>
                  <a:lnTo>
                    <a:pt x="7498093" y="1585996"/>
                  </a:lnTo>
                  <a:lnTo>
                    <a:pt x="7461161" y="1593532"/>
                  </a:lnTo>
                  <a:lnTo>
                    <a:pt x="95261" y="1593532"/>
                  </a:lnTo>
                  <a:lnTo>
                    <a:pt x="58330" y="1585996"/>
                  </a:lnTo>
                  <a:lnTo>
                    <a:pt x="28033" y="1565498"/>
                  </a:lnTo>
                  <a:lnTo>
                    <a:pt x="7535" y="1535201"/>
                  </a:lnTo>
                  <a:lnTo>
                    <a:pt x="0" y="1498269"/>
                  </a:lnTo>
                  <a:lnTo>
                    <a:pt x="0" y="95262"/>
                  </a:lnTo>
                  <a:close/>
                </a:path>
              </a:pathLst>
            </a:custGeom>
            <a:ln w="22860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30763" y="3579139"/>
            <a:ext cx="6086475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Visual</a:t>
            </a:r>
            <a:r>
              <a:rPr dirty="0" sz="2200" spc="-6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Distinction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Color-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coded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scatter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points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clearly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separate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tsunami-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triggering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earthquakes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from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non-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events.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82359" y="5123980"/>
            <a:ext cx="7579359" cy="1616710"/>
            <a:chOff x="782359" y="5123980"/>
            <a:chExt cx="7579359" cy="1616710"/>
          </a:xfrm>
        </p:grpSpPr>
        <p:sp>
          <p:nvSpPr>
            <p:cNvPr id="9" name="object 9" descr=""/>
            <p:cNvSpPr/>
            <p:nvPr/>
          </p:nvSpPr>
          <p:spPr>
            <a:xfrm>
              <a:off x="793789" y="5135410"/>
              <a:ext cx="7556500" cy="1593850"/>
            </a:xfrm>
            <a:custGeom>
              <a:avLst/>
              <a:gdLst/>
              <a:ahLst/>
              <a:cxnLst/>
              <a:rect l="l" t="t" r="r" b="b"/>
              <a:pathLst>
                <a:path w="7556500" h="1593850">
                  <a:moveTo>
                    <a:pt x="7461161" y="0"/>
                  </a:moveTo>
                  <a:lnTo>
                    <a:pt x="95261" y="0"/>
                  </a:lnTo>
                  <a:lnTo>
                    <a:pt x="58330" y="7535"/>
                  </a:lnTo>
                  <a:lnTo>
                    <a:pt x="28033" y="28033"/>
                  </a:lnTo>
                  <a:lnTo>
                    <a:pt x="7535" y="58330"/>
                  </a:lnTo>
                  <a:lnTo>
                    <a:pt x="0" y="95262"/>
                  </a:lnTo>
                  <a:lnTo>
                    <a:pt x="0" y="1498269"/>
                  </a:lnTo>
                  <a:lnTo>
                    <a:pt x="7535" y="1535201"/>
                  </a:lnTo>
                  <a:lnTo>
                    <a:pt x="28033" y="1565498"/>
                  </a:lnTo>
                  <a:lnTo>
                    <a:pt x="58330" y="1585996"/>
                  </a:lnTo>
                  <a:lnTo>
                    <a:pt x="95261" y="1593532"/>
                  </a:lnTo>
                  <a:lnTo>
                    <a:pt x="7461161" y="1593532"/>
                  </a:lnTo>
                  <a:lnTo>
                    <a:pt x="7498093" y="1585996"/>
                  </a:lnTo>
                  <a:lnTo>
                    <a:pt x="7528390" y="1565498"/>
                  </a:lnTo>
                  <a:lnTo>
                    <a:pt x="7548888" y="1535201"/>
                  </a:lnTo>
                  <a:lnTo>
                    <a:pt x="7556423" y="1498269"/>
                  </a:lnTo>
                  <a:lnTo>
                    <a:pt x="7556423" y="95262"/>
                  </a:lnTo>
                  <a:lnTo>
                    <a:pt x="7548888" y="58330"/>
                  </a:lnTo>
                  <a:lnTo>
                    <a:pt x="7528390" y="28033"/>
                  </a:lnTo>
                  <a:lnTo>
                    <a:pt x="7498093" y="7535"/>
                  </a:lnTo>
                  <a:lnTo>
                    <a:pt x="7461161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3789" y="5135410"/>
              <a:ext cx="7556500" cy="1593850"/>
            </a:xfrm>
            <a:custGeom>
              <a:avLst/>
              <a:gdLst/>
              <a:ahLst/>
              <a:cxnLst/>
              <a:rect l="l" t="t" r="r" b="b"/>
              <a:pathLst>
                <a:path w="7556500" h="1593850">
                  <a:moveTo>
                    <a:pt x="0" y="95262"/>
                  </a:moveTo>
                  <a:lnTo>
                    <a:pt x="7535" y="58330"/>
                  </a:lnTo>
                  <a:lnTo>
                    <a:pt x="28033" y="28033"/>
                  </a:lnTo>
                  <a:lnTo>
                    <a:pt x="58330" y="7535"/>
                  </a:lnTo>
                  <a:lnTo>
                    <a:pt x="95261" y="0"/>
                  </a:lnTo>
                  <a:lnTo>
                    <a:pt x="7461161" y="0"/>
                  </a:lnTo>
                  <a:lnTo>
                    <a:pt x="7498093" y="7535"/>
                  </a:lnTo>
                  <a:lnTo>
                    <a:pt x="7528390" y="28033"/>
                  </a:lnTo>
                  <a:lnTo>
                    <a:pt x="7548888" y="58330"/>
                  </a:lnTo>
                  <a:lnTo>
                    <a:pt x="7556423" y="95262"/>
                  </a:lnTo>
                  <a:lnTo>
                    <a:pt x="7556423" y="1498269"/>
                  </a:lnTo>
                  <a:lnTo>
                    <a:pt x="7548888" y="1535201"/>
                  </a:lnTo>
                  <a:lnTo>
                    <a:pt x="7528390" y="1565498"/>
                  </a:lnTo>
                  <a:lnTo>
                    <a:pt x="7498093" y="1585996"/>
                  </a:lnTo>
                  <a:lnTo>
                    <a:pt x="7461161" y="1593532"/>
                  </a:lnTo>
                  <a:lnTo>
                    <a:pt x="95261" y="1593532"/>
                  </a:lnTo>
                  <a:lnTo>
                    <a:pt x="58330" y="1585996"/>
                  </a:lnTo>
                  <a:lnTo>
                    <a:pt x="28033" y="1565498"/>
                  </a:lnTo>
                  <a:lnTo>
                    <a:pt x="7535" y="1535201"/>
                  </a:lnTo>
                  <a:lnTo>
                    <a:pt x="0" y="1498269"/>
                  </a:lnTo>
                  <a:lnTo>
                    <a:pt x="0" y="95262"/>
                  </a:lnTo>
                  <a:close/>
                </a:path>
              </a:pathLst>
            </a:custGeom>
            <a:ln w="22860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030763" y="5399493"/>
            <a:ext cx="6644005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Pattern</a:t>
            </a:r>
            <a:r>
              <a:rPr dirty="0" sz="2200" spc="-9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Recognition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Spatial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analysis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reveals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specific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zones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where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generation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EBECEF"/>
                </a:solidFill>
                <a:latin typeface="Arial"/>
                <a:cs typeface="Arial"/>
              </a:rPr>
              <a:t>is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more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likely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occur.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241896"/>
            <a:ext cx="8373109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885" algn="l"/>
                <a:tab pos="6131560" algn="l"/>
              </a:tabLst>
            </a:pPr>
            <a:r>
              <a:rPr dirty="0" spc="-10"/>
              <a:t>High-Density</a:t>
            </a:r>
            <a:r>
              <a:rPr dirty="0"/>
              <a:t>	</a:t>
            </a:r>
            <a:r>
              <a:rPr dirty="0" spc="-10"/>
              <a:t>Tsunami</a:t>
            </a:r>
            <a:r>
              <a:rPr dirty="0"/>
              <a:t>	</a:t>
            </a:r>
            <a:r>
              <a:rPr dirty="0" spc="-10"/>
              <a:t>Regions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2526639"/>
            <a:ext cx="6186170" cy="196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F1F5F9"/>
                </a:solidFill>
                <a:latin typeface="Arial"/>
                <a:cs typeface="Arial"/>
              </a:rPr>
              <a:t>Concentration</a:t>
            </a:r>
            <a:r>
              <a:rPr dirty="0" sz="2200" spc="-55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1F5F9"/>
                </a:solidFill>
                <a:latin typeface="Arial"/>
                <a:cs typeface="Arial"/>
              </a:rPr>
              <a:t>Zones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79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Hexbin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visualization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identifies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areas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the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highest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frequency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of</a:t>
            </a:r>
            <a:r>
              <a:rPr dirty="0" sz="17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tsunami-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triggered</a:t>
            </a:r>
            <a:r>
              <a:rPr dirty="0" sz="17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earthquakes.</a:t>
            </a:r>
            <a:endParaRPr sz="1750">
              <a:latin typeface="Arial"/>
              <a:cs typeface="Arial"/>
            </a:endParaRPr>
          </a:p>
          <a:p>
            <a:pPr marL="12700" marR="325120">
              <a:lnSpc>
                <a:spcPct val="109500"/>
              </a:lnSpc>
              <a:spcBef>
                <a:spcPts val="165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These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high-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density</a:t>
            </a:r>
            <a:r>
              <a:rPr dirty="0" sz="175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regions</a:t>
            </a:r>
            <a:r>
              <a:rPr dirty="0" sz="175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correspond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to</a:t>
            </a:r>
            <a:r>
              <a:rPr dirty="0" sz="175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major</a:t>
            </a:r>
            <a:r>
              <a:rPr dirty="0" sz="175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subduction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zones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coastal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tectonic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boundaries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worldwide.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9515" y="2540558"/>
            <a:ext cx="6244704" cy="4225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  <a:tabLst>
                <a:tab pos="2993390" algn="l"/>
                <a:tab pos="4154804" algn="l"/>
              </a:tabLst>
            </a:pPr>
            <a:r>
              <a:rPr dirty="0" spc="-10"/>
              <a:t>Magnitude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Depth Comparison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6264948" y="2842374"/>
            <a:ext cx="3695700" cy="2524125"/>
            <a:chOff x="6264948" y="2842374"/>
            <a:chExt cx="3695700" cy="2524125"/>
          </a:xfrm>
        </p:grpSpPr>
        <p:sp>
          <p:nvSpPr>
            <p:cNvPr id="6" name="object 6" descr=""/>
            <p:cNvSpPr/>
            <p:nvPr/>
          </p:nvSpPr>
          <p:spPr>
            <a:xfrm>
              <a:off x="6280188" y="2857614"/>
              <a:ext cx="3665220" cy="2493645"/>
            </a:xfrm>
            <a:custGeom>
              <a:avLst/>
              <a:gdLst/>
              <a:ahLst/>
              <a:cxnLst/>
              <a:rect l="l" t="t" r="r" b="b"/>
              <a:pathLst>
                <a:path w="3665220" h="2493645">
                  <a:moveTo>
                    <a:pt x="3569474" y="0"/>
                  </a:moveTo>
                  <a:lnTo>
                    <a:pt x="95263" y="0"/>
                  </a:lnTo>
                  <a:lnTo>
                    <a:pt x="58331" y="7535"/>
                  </a:lnTo>
                  <a:lnTo>
                    <a:pt x="28034" y="28033"/>
                  </a:lnTo>
                  <a:lnTo>
                    <a:pt x="7535" y="58330"/>
                  </a:lnTo>
                  <a:lnTo>
                    <a:pt x="0" y="95262"/>
                  </a:lnTo>
                  <a:lnTo>
                    <a:pt x="0" y="2397899"/>
                  </a:lnTo>
                  <a:lnTo>
                    <a:pt x="7535" y="2434831"/>
                  </a:lnTo>
                  <a:lnTo>
                    <a:pt x="28034" y="2465128"/>
                  </a:lnTo>
                  <a:lnTo>
                    <a:pt x="58331" y="2485626"/>
                  </a:lnTo>
                  <a:lnTo>
                    <a:pt x="95263" y="2493162"/>
                  </a:lnTo>
                  <a:lnTo>
                    <a:pt x="3569474" y="2493162"/>
                  </a:lnTo>
                  <a:lnTo>
                    <a:pt x="3606408" y="2485626"/>
                  </a:lnTo>
                  <a:lnTo>
                    <a:pt x="3636710" y="2465128"/>
                  </a:lnTo>
                  <a:lnTo>
                    <a:pt x="3657212" y="2434831"/>
                  </a:lnTo>
                  <a:lnTo>
                    <a:pt x="3664750" y="2397899"/>
                  </a:lnTo>
                  <a:lnTo>
                    <a:pt x="3664750" y="95262"/>
                  </a:lnTo>
                  <a:lnTo>
                    <a:pt x="3657212" y="58330"/>
                  </a:lnTo>
                  <a:lnTo>
                    <a:pt x="3636710" y="28033"/>
                  </a:lnTo>
                  <a:lnTo>
                    <a:pt x="3606408" y="7535"/>
                  </a:lnTo>
                  <a:lnTo>
                    <a:pt x="3569474" y="0"/>
                  </a:lnTo>
                  <a:close/>
                </a:path>
              </a:pathLst>
            </a:custGeom>
            <a:solidFill>
              <a:srgbClr val="10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80188" y="2857614"/>
              <a:ext cx="3665220" cy="2493645"/>
            </a:xfrm>
            <a:custGeom>
              <a:avLst/>
              <a:gdLst/>
              <a:ahLst/>
              <a:cxnLst/>
              <a:rect l="l" t="t" r="r" b="b"/>
              <a:pathLst>
                <a:path w="3665220" h="2493645">
                  <a:moveTo>
                    <a:pt x="0" y="95262"/>
                  </a:moveTo>
                  <a:lnTo>
                    <a:pt x="7535" y="58330"/>
                  </a:lnTo>
                  <a:lnTo>
                    <a:pt x="28034" y="28033"/>
                  </a:lnTo>
                  <a:lnTo>
                    <a:pt x="58331" y="7535"/>
                  </a:lnTo>
                  <a:lnTo>
                    <a:pt x="95263" y="0"/>
                  </a:lnTo>
                  <a:lnTo>
                    <a:pt x="3569474" y="0"/>
                  </a:lnTo>
                  <a:lnTo>
                    <a:pt x="3606408" y="7535"/>
                  </a:lnTo>
                  <a:lnTo>
                    <a:pt x="3636710" y="28033"/>
                  </a:lnTo>
                  <a:lnTo>
                    <a:pt x="3657212" y="58330"/>
                  </a:lnTo>
                  <a:lnTo>
                    <a:pt x="3664750" y="95262"/>
                  </a:lnTo>
                  <a:lnTo>
                    <a:pt x="3664750" y="2397899"/>
                  </a:lnTo>
                  <a:lnTo>
                    <a:pt x="3657212" y="2434831"/>
                  </a:lnTo>
                  <a:lnTo>
                    <a:pt x="3636710" y="2465128"/>
                  </a:lnTo>
                  <a:lnTo>
                    <a:pt x="3606408" y="2485626"/>
                  </a:lnTo>
                  <a:lnTo>
                    <a:pt x="3569474" y="2493162"/>
                  </a:lnTo>
                  <a:lnTo>
                    <a:pt x="95263" y="2493162"/>
                  </a:lnTo>
                  <a:lnTo>
                    <a:pt x="58331" y="2485626"/>
                  </a:lnTo>
                  <a:lnTo>
                    <a:pt x="28034" y="2465128"/>
                  </a:lnTo>
                  <a:lnTo>
                    <a:pt x="7535" y="2434831"/>
                  </a:lnTo>
                  <a:lnTo>
                    <a:pt x="0" y="2397899"/>
                  </a:lnTo>
                  <a:lnTo>
                    <a:pt x="0" y="95262"/>
                  </a:lnTo>
                  <a:close/>
                </a:path>
              </a:pathLst>
            </a:custGeom>
            <a:ln w="30479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34465" y="3129330"/>
            <a:ext cx="3559810" cy="137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Magnitude</a:t>
            </a:r>
            <a:r>
              <a:rPr dirty="0" sz="2200" spc="-1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Patterns</a:t>
            </a:r>
            <a:endParaRPr sz="2200">
              <a:latin typeface="Arial"/>
              <a:cs typeface="Arial"/>
            </a:endParaRPr>
          </a:p>
          <a:p>
            <a:pPr marL="202565" marR="422909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events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show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higher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average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magnitudes,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typically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above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7.5–8.0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threshold.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156507" y="2842374"/>
            <a:ext cx="3695700" cy="2524125"/>
            <a:chOff x="10156507" y="2842374"/>
            <a:chExt cx="3695700" cy="2524125"/>
          </a:xfrm>
        </p:grpSpPr>
        <p:sp>
          <p:nvSpPr>
            <p:cNvPr id="10" name="object 10" descr=""/>
            <p:cNvSpPr/>
            <p:nvPr/>
          </p:nvSpPr>
          <p:spPr>
            <a:xfrm>
              <a:off x="10171747" y="2857614"/>
              <a:ext cx="3665220" cy="2493645"/>
            </a:xfrm>
            <a:custGeom>
              <a:avLst/>
              <a:gdLst/>
              <a:ahLst/>
              <a:cxnLst/>
              <a:rect l="l" t="t" r="r" b="b"/>
              <a:pathLst>
                <a:path w="3665219" h="2493645">
                  <a:moveTo>
                    <a:pt x="3569601" y="0"/>
                  </a:moveTo>
                  <a:lnTo>
                    <a:pt x="95263" y="0"/>
                  </a:lnTo>
                  <a:lnTo>
                    <a:pt x="58331" y="7535"/>
                  </a:lnTo>
                  <a:lnTo>
                    <a:pt x="28034" y="28033"/>
                  </a:lnTo>
                  <a:lnTo>
                    <a:pt x="7535" y="58330"/>
                  </a:lnTo>
                  <a:lnTo>
                    <a:pt x="0" y="95262"/>
                  </a:lnTo>
                  <a:lnTo>
                    <a:pt x="0" y="2397899"/>
                  </a:lnTo>
                  <a:lnTo>
                    <a:pt x="7535" y="2434831"/>
                  </a:lnTo>
                  <a:lnTo>
                    <a:pt x="28034" y="2465128"/>
                  </a:lnTo>
                  <a:lnTo>
                    <a:pt x="58331" y="2485626"/>
                  </a:lnTo>
                  <a:lnTo>
                    <a:pt x="95263" y="2493162"/>
                  </a:lnTo>
                  <a:lnTo>
                    <a:pt x="3569601" y="2493162"/>
                  </a:lnTo>
                  <a:lnTo>
                    <a:pt x="3606533" y="2485626"/>
                  </a:lnTo>
                  <a:lnTo>
                    <a:pt x="3636830" y="2465128"/>
                  </a:lnTo>
                  <a:lnTo>
                    <a:pt x="3657328" y="2434831"/>
                  </a:lnTo>
                  <a:lnTo>
                    <a:pt x="3664864" y="2397899"/>
                  </a:lnTo>
                  <a:lnTo>
                    <a:pt x="3664864" y="95262"/>
                  </a:lnTo>
                  <a:lnTo>
                    <a:pt x="3657328" y="58330"/>
                  </a:lnTo>
                  <a:lnTo>
                    <a:pt x="3636830" y="28033"/>
                  </a:lnTo>
                  <a:lnTo>
                    <a:pt x="3606533" y="7535"/>
                  </a:lnTo>
                  <a:lnTo>
                    <a:pt x="3569601" y="0"/>
                  </a:lnTo>
                  <a:close/>
                </a:path>
              </a:pathLst>
            </a:custGeom>
            <a:solidFill>
              <a:srgbClr val="10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171747" y="2857614"/>
              <a:ext cx="3665220" cy="2493645"/>
            </a:xfrm>
            <a:custGeom>
              <a:avLst/>
              <a:gdLst/>
              <a:ahLst/>
              <a:cxnLst/>
              <a:rect l="l" t="t" r="r" b="b"/>
              <a:pathLst>
                <a:path w="3665219" h="2493645">
                  <a:moveTo>
                    <a:pt x="0" y="95262"/>
                  </a:moveTo>
                  <a:lnTo>
                    <a:pt x="7535" y="58330"/>
                  </a:lnTo>
                  <a:lnTo>
                    <a:pt x="28034" y="28033"/>
                  </a:lnTo>
                  <a:lnTo>
                    <a:pt x="58331" y="7535"/>
                  </a:lnTo>
                  <a:lnTo>
                    <a:pt x="95263" y="0"/>
                  </a:lnTo>
                  <a:lnTo>
                    <a:pt x="3569601" y="0"/>
                  </a:lnTo>
                  <a:lnTo>
                    <a:pt x="3606533" y="7535"/>
                  </a:lnTo>
                  <a:lnTo>
                    <a:pt x="3636830" y="28033"/>
                  </a:lnTo>
                  <a:lnTo>
                    <a:pt x="3657328" y="58330"/>
                  </a:lnTo>
                  <a:lnTo>
                    <a:pt x="3664864" y="95262"/>
                  </a:lnTo>
                  <a:lnTo>
                    <a:pt x="3664864" y="2397899"/>
                  </a:lnTo>
                  <a:lnTo>
                    <a:pt x="3657328" y="2434831"/>
                  </a:lnTo>
                  <a:lnTo>
                    <a:pt x="3636830" y="2465128"/>
                  </a:lnTo>
                  <a:lnTo>
                    <a:pt x="3606533" y="2485626"/>
                  </a:lnTo>
                  <a:lnTo>
                    <a:pt x="3569601" y="2493162"/>
                  </a:lnTo>
                  <a:lnTo>
                    <a:pt x="95263" y="2493162"/>
                  </a:lnTo>
                  <a:lnTo>
                    <a:pt x="58331" y="2485626"/>
                  </a:lnTo>
                  <a:lnTo>
                    <a:pt x="28034" y="2465128"/>
                  </a:lnTo>
                  <a:lnTo>
                    <a:pt x="7535" y="2434831"/>
                  </a:lnTo>
                  <a:lnTo>
                    <a:pt x="0" y="2397899"/>
                  </a:lnTo>
                  <a:lnTo>
                    <a:pt x="0" y="95262"/>
                  </a:lnTo>
                  <a:close/>
                </a:path>
              </a:pathLst>
            </a:custGeom>
            <a:ln w="30479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416337" y="3129330"/>
            <a:ext cx="2864485" cy="1958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r>
              <a:rPr dirty="0" sz="2200" spc="-8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Variations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Shallower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earthquakes demonstrate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greater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tsunami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potential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increased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variability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depth measurements.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264948" y="5562358"/>
            <a:ext cx="7586980" cy="1639570"/>
            <a:chOff x="6264948" y="5562358"/>
            <a:chExt cx="7586980" cy="1639570"/>
          </a:xfrm>
        </p:grpSpPr>
        <p:sp>
          <p:nvSpPr>
            <p:cNvPr id="14" name="object 14" descr=""/>
            <p:cNvSpPr/>
            <p:nvPr/>
          </p:nvSpPr>
          <p:spPr>
            <a:xfrm>
              <a:off x="6280188" y="5577598"/>
              <a:ext cx="7556500" cy="1609090"/>
            </a:xfrm>
            <a:custGeom>
              <a:avLst/>
              <a:gdLst/>
              <a:ahLst/>
              <a:cxnLst/>
              <a:rect l="l" t="t" r="r" b="b"/>
              <a:pathLst>
                <a:path w="7556500" h="1609090">
                  <a:moveTo>
                    <a:pt x="7461148" y="0"/>
                  </a:moveTo>
                  <a:lnTo>
                    <a:pt x="95271" y="0"/>
                  </a:lnTo>
                  <a:lnTo>
                    <a:pt x="58336" y="7535"/>
                  </a:lnTo>
                  <a:lnTo>
                    <a:pt x="28036" y="28035"/>
                  </a:lnTo>
                  <a:lnTo>
                    <a:pt x="7536" y="58335"/>
                  </a:lnTo>
                  <a:lnTo>
                    <a:pt x="0" y="95275"/>
                  </a:lnTo>
                  <a:lnTo>
                    <a:pt x="0" y="1513497"/>
                  </a:lnTo>
                  <a:lnTo>
                    <a:pt x="7536" y="1550436"/>
                  </a:lnTo>
                  <a:lnTo>
                    <a:pt x="28036" y="1580737"/>
                  </a:lnTo>
                  <a:lnTo>
                    <a:pt x="58336" y="1601236"/>
                  </a:lnTo>
                  <a:lnTo>
                    <a:pt x="95271" y="1608772"/>
                  </a:lnTo>
                  <a:lnTo>
                    <a:pt x="7461148" y="1608772"/>
                  </a:lnTo>
                  <a:lnTo>
                    <a:pt x="7498082" y="1601236"/>
                  </a:lnTo>
                  <a:lnTo>
                    <a:pt x="7528383" y="1580737"/>
                  </a:lnTo>
                  <a:lnTo>
                    <a:pt x="7548886" y="1550436"/>
                  </a:lnTo>
                  <a:lnTo>
                    <a:pt x="7556423" y="1513497"/>
                  </a:lnTo>
                  <a:lnTo>
                    <a:pt x="7556423" y="95275"/>
                  </a:lnTo>
                  <a:lnTo>
                    <a:pt x="7548886" y="58335"/>
                  </a:lnTo>
                  <a:lnTo>
                    <a:pt x="7528383" y="28035"/>
                  </a:lnTo>
                  <a:lnTo>
                    <a:pt x="7498082" y="7535"/>
                  </a:lnTo>
                  <a:lnTo>
                    <a:pt x="7461148" y="0"/>
                  </a:lnTo>
                  <a:close/>
                </a:path>
              </a:pathLst>
            </a:custGeom>
            <a:solidFill>
              <a:srgbClr val="10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80188" y="5577598"/>
              <a:ext cx="7556500" cy="1609090"/>
            </a:xfrm>
            <a:custGeom>
              <a:avLst/>
              <a:gdLst/>
              <a:ahLst/>
              <a:cxnLst/>
              <a:rect l="l" t="t" r="r" b="b"/>
              <a:pathLst>
                <a:path w="7556500" h="1609090">
                  <a:moveTo>
                    <a:pt x="0" y="95275"/>
                  </a:moveTo>
                  <a:lnTo>
                    <a:pt x="7536" y="58335"/>
                  </a:lnTo>
                  <a:lnTo>
                    <a:pt x="28036" y="28035"/>
                  </a:lnTo>
                  <a:lnTo>
                    <a:pt x="58336" y="7535"/>
                  </a:lnTo>
                  <a:lnTo>
                    <a:pt x="95271" y="0"/>
                  </a:lnTo>
                  <a:lnTo>
                    <a:pt x="7461148" y="0"/>
                  </a:lnTo>
                  <a:lnTo>
                    <a:pt x="7498082" y="7535"/>
                  </a:lnTo>
                  <a:lnTo>
                    <a:pt x="7528383" y="28035"/>
                  </a:lnTo>
                  <a:lnTo>
                    <a:pt x="7548886" y="58335"/>
                  </a:lnTo>
                  <a:lnTo>
                    <a:pt x="7556423" y="95275"/>
                  </a:lnTo>
                  <a:lnTo>
                    <a:pt x="7556423" y="1513497"/>
                  </a:lnTo>
                  <a:lnTo>
                    <a:pt x="7548886" y="1550436"/>
                  </a:lnTo>
                  <a:lnTo>
                    <a:pt x="7528383" y="1580737"/>
                  </a:lnTo>
                  <a:lnTo>
                    <a:pt x="7498082" y="1601236"/>
                  </a:lnTo>
                  <a:lnTo>
                    <a:pt x="7461148" y="1608772"/>
                  </a:lnTo>
                  <a:lnTo>
                    <a:pt x="95271" y="1608772"/>
                  </a:lnTo>
                  <a:lnTo>
                    <a:pt x="58336" y="1601236"/>
                  </a:lnTo>
                  <a:lnTo>
                    <a:pt x="28036" y="1580737"/>
                  </a:lnTo>
                  <a:lnTo>
                    <a:pt x="7536" y="1550436"/>
                  </a:lnTo>
                  <a:lnTo>
                    <a:pt x="0" y="1513497"/>
                  </a:lnTo>
                  <a:lnTo>
                    <a:pt x="0" y="95275"/>
                  </a:lnTo>
                  <a:close/>
                </a:path>
              </a:pathLst>
            </a:custGeom>
            <a:ln w="30479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524790" y="5849315"/>
            <a:ext cx="6581140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Statistical</a:t>
            </a:r>
            <a:r>
              <a:rPr dirty="0" sz="2200" spc="-12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Significance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Boxplot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analysis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reveals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distinct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distributions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between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and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non-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characteristics.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630159"/>
            <a:ext cx="8655050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3390" algn="l"/>
                <a:tab pos="6318885" algn="l"/>
              </a:tabLst>
            </a:pPr>
            <a:r>
              <a:rPr dirty="0" spc="-10"/>
              <a:t>Magnitude</a:t>
            </a:r>
            <a:r>
              <a:rPr dirty="0"/>
              <a:t>	</a:t>
            </a:r>
            <a:r>
              <a:rPr dirty="0" spc="-10"/>
              <a:t>Distribution</a:t>
            </a:r>
            <a:r>
              <a:rPr dirty="0"/>
              <a:t>	</a:t>
            </a:r>
            <a:r>
              <a:rPr dirty="0" spc="-1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928823"/>
            <a:ext cx="5564860" cy="344924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Frequency</a:t>
            </a:r>
            <a:r>
              <a:rPr dirty="0" spc="-135"/>
              <a:t> </a:t>
            </a:r>
            <a:r>
              <a:rPr dirty="0" spc="-10"/>
              <a:t>Patterns</a:t>
            </a:r>
          </a:p>
          <a:p>
            <a:pPr marL="12700" marR="5080">
              <a:lnSpc>
                <a:spcPct val="109500"/>
              </a:lnSpc>
              <a:spcBef>
                <a:spcPts val="1795"/>
              </a:spcBef>
            </a:pP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Histogram</a:t>
            </a:r>
            <a:r>
              <a:rPr dirty="0" sz="1750" spc="-5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reveals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the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distribution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of</a:t>
            </a:r>
            <a:r>
              <a:rPr dirty="0" sz="1750" spc="-5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earthquake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magnitudes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across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both</a:t>
            </a:r>
            <a:r>
              <a:rPr dirty="0" sz="1750" spc="-5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event</a:t>
            </a:r>
            <a:r>
              <a:rPr dirty="0" sz="1750" spc="-5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types.</a:t>
            </a:r>
            <a:endParaRPr sz="1750">
              <a:latin typeface="Arial"/>
              <a:cs typeface="Arial"/>
            </a:endParaRPr>
          </a:p>
          <a:p>
            <a:pPr marL="12700" marR="369570">
              <a:lnSpc>
                <a:spcPct val="109500"/>
              </a:lnSpc>
              <a:spcBef>
                <a:spcPts val="1650"/>
              </a:spcBef>
            </a:pP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Higher</a:t>
            </a:r>
            <a:r>
              <a:rPr dirty="0" sz="1750" spc="-7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magnitude</a:t>
            </a:r>
            <a:r>
              <a:rPr dirty="0" sz="1750" spc="-7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events</a:t>
            </a:r>
            <a:r>
              <a:rPr dirty="0" sz="1750" spc="-7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(7.5+)</a:t>
            </a:r>
            <a:r>
              <a:rPr dirty="0" sz="1750" spc="-7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show</a:t>
            </a:r>
            <a:r>
              <a:rPr dirty="0" sz="1750" spc="-6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increased</a:t>
            </a:r>
            <a:r>
              <a:rPr dirty="0" sz="1750" spc="-7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correlation</a:t>
            </a:r>
            <a:r>
              <a:rPr dirty="0" sz="1750" spc="-7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 b="0">
                <a:solidFill>
                  <a:srgbClr val="EBECEF"/>
                </a:solidFill>
                <a:latin typeface="Arial"/>
                <a:cs typeface="Arial"/>
              </a:rPr>
              <a:t>with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generation,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establishing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a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clear</a:t>
            </a:r>
            <a:r>
              <a:rPr dirty="0" sz="1750" spc="-40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threshold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b="0">
                <a:solidFill>
                  <a:srgbClr val="EBECEF"/>
                </a:solidFill>
                <a:latin typeface="Arial"/>
                <a:cs typeface="Arial"/>
              </a:rPr>
              <a:t>for</a:t>
            </a:r>
            <a:r>
              <a:rPr dirty="0" sz="1750" spc="-45" b="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 b="0">
                <a:solidFill>
                  <a:srgbClr val="EBECEF"/>
                </a:solidFill>
                <a:latin typeface="Arial"/>
                <a:cs typeface="Arial"/>
              </a:rPr>
              <a:t>risk </a:t>
            </a:r>
            <a:r>
              <a:rPr dirty="0" sz="1750" spc="-10" b="0">
                <a:solidFill>
                  <a:srgbClr val="EBECEF"/>
                </a:solidFill>
                <a:latin typeface="Arial"/>
                <a:cs typeface="Arial"/>
              </a:rPr>
              <a:t>assessment.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731645"/>
            <a:ext cx="4859655" cy="1498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  <a:tabLst>
                <a:tab pos="1707514" algn="l"/>
              </a:tabLst>
            </a:pPr>
            <a:r>
              <a:rPr dirty="0" spc="-10"/>
              <a:t>Event</a:t>
            </a:r>
            <a:r>
              <a:rPr dirty="0"/>
              <a:t>	</a:t>
            </a:r>
            <a:r>
              <a:rPr dirty="0" spc="-10"/>
              <a:t>Occurrence Comparison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91154" y="3534409"/>
            <a:ext cx="2333625" cy="293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5850" spc="-25" b="1">
                <a:solidFill>
                  <a:srgbClr val="EBECEF"/>
                </a:solidFill>
                <a:latin typeface="Arial"/>
                <a:cs typeface="Arial"/>
              </a:rPr>
              <a:t>85%</a:t>
            </a:r>
            <a:endParaRPr sz="5850">
              <a:latin typeface="Arial"/>
              <a:cs typeface="Arial"/>
            </a:endParaRPr>
          </a:p>
          <a:p>
            <a:pPr algn="ctr" marL="274955" marR="266700">
              <a:lnSpc>
                <a:spcPct val="109800"/>
              </a:lnSpc>
              <a:spcBef>
                <a:spcPts val="2135"/>
              </a:spcBef>
            </a:pPr>
            <a:r>
              <a:rPr dirty="0" sz="2200" spc="-25" b="1">
                <a:solidFill>
                  <a:srgbClr val="EBECEF"/>
                </a:solidFill>
                <a:latin typeface="Arial"/>
                <a:cs typeface="Arial"/>
              </a:rPr>
              <a:t>Non-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Tsunami Events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ct val="109500"/>
              </a:lnSpc>
              <a:spcBef>
                <a:spcPts val="108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Majority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of</a:t>
            </a:r>
            <a:r>
              <a:rPr dirty="0" sz="1750" spc="-5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earthquakes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do</a:t>
            </a:r>
            <a:r>
              <a:rPr dirty="0" sz="17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not</a:t>
            </a:r>
            <a:r>
              <a:rPr dirty="0" sz="17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generate tsunamis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98488" y="3534409"/>
            <a:ext cx="2346325" cy="2278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850" spc="-25" b="1">
                <a:solidFill>
                  <a:srgbClr val="EBECEF"/>
                </a:solidFill>
                <a:latin typeface="Arial"/>
                <a:cs typeface="Arial"/>
              </a:rPr>
              <a:t>15%</a:t>
            </a:r>
            <a:endParaRPr sz="5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395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2200" spc="-7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Events</a:t>
            </a:r>
            <a:endParaRPr sz="2200">
              <a:latin typeface="Arial"/>
              <a:cs typeface="Arial"/>
            </a:endParaRPr>
          </a:p>
          <a:p>
            <a:pPr algn="ctr" marL="12700" marR="5080" indent="-1270">
              <a:lnSpc>
                <a:spcPct val="109500"/>
              </a:lnSpc>
              <a:spcBef>
                <a:spcPts val="108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Significant</a:t>
            </a:r>
            <a:r>
              <a:rPr dirty="0" sz="1750" spc="-1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portion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triggers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activity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98120" y="3534409"/>
            <a:ext cx="2174875" cy="264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850" spc="-20" b="1">
                <a:solidFill>
                  <a:srgbClr val="EBECEF"/>
                </a:solidFill>
                <a:latin typeface="Arial"/>
                <a:cs typeface="Arial"/>
              </a:rPr>
              <a:t>7.5+</a:t>
            </a:r>
            <a:endParaRPr sz="5850">
              <a:latin typeface="Arial"/>
              <a:cs typeface="Arial"/>
            </a:endParaRPr>
          </a:p>
          <a:p>
            <a:pPr algn="ctr" marL="388620" marR="381000" indent="-1270">
              <a:lnSpc>
                <a:spcPct val="109800"/>
              </a:lnSpc>
              <a:spcBef>
                <a:spcPts val="2135"/>
              </a:spcBef>
            </a:pP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Critical Magnitude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ct val="109500"/>
              </a:lnSpc>
              <a:spcBef>
                <a:spcPts val="108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Threshold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for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tsunami generation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risk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419415"/>
            <a:ext cx="5516880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80715" algn="l"/>
              </a:tabLst>
            </a:pPr>
            <a:r>
              <a:rPr dirty="0" spc="-10"/>
              <a:t>Correlation</a:t>
            </a:r>
            <a:r>
              <a:rPr dirty="0"/>
              <a:t>	</a:t>
            </a:r>
            <a:r>
              <a:rPr dirty="0" spc="-1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718079"/>
            <a:ext cx="6244704" cy="387060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586815" y="2704160"/>
            <a:ext cx="5631815" cy="196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F1F5F9"/>
                </a:solidFill>
                <a:latin typeface="Arial"/>
                <a:cs typeface="Arial"/>
              </a:rPr>
              <a:t>Variable</a:t>
            </a:r>
            <a:r>
              <a:rPr dirty="0" sz="2200" spc="-60" b="1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1F5F9"/>
                </a:solidFill>
                <a:latin typeface="Arial"/>
                <a:cs typeface="Arial"/>
              </a:rPr>
              <a:t>Relationships</a:t>
            </a:r>
            <a:endParaRPr sz="2200">
              <a:latin typeface="Arial"/>
              <a:cs typeface="Arial"/>
            </a:endParaRPr>
          </a:p>
          <a:p>
            <a:pPr marL="12700" marR="363855">
              <a:lnSpc>
                <a:spcPct val="109500"/>
              </a:lnSpc>
              <a:spcBef>
                <a:spcPts val="179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Heatmap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reveals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strong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positive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association</a:t>
            </a:r>
            <a:r>
              <a:rPr dirty="0" sz="1750" spc="-6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between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magnitude</a:t>
            </a:r>
            <a:r>
              <a:rPr dirty="0" sz="1750" spc="-8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750" spc="-8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8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occurrence.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65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shows</a:t>
            </a:r>
            <a:r>
              <a:rPr dirty="0" sz="175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inverse</a:t>
            </a:r>
            <a:r>
              <a:rPr dirty="0" sz="1750" spc="-4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EBECEF"/>
                </a:solidFill>
                <a:latin typeface="Arial"/>
                <a:cs typeface="Arial"/>
              </a:rPr>
              <a:t>correlation—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shallower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earthquakes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increase</a:t>
            </a:r>
            <a:r>
              <a:rPr dirty="0" sz="1750" spc="-10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10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likelihood</a:t>
            </a:r>
            <a:r>
              <a:rPr dirty="0" sz="1750" spc="-10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significantly.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1691589"/>
            <a:ext cx="526859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5865" algn="l"/>
                <a:tab pos="2555875" algn="l"/>
              </a:tabLst>
            </a:pPr>
            <a:r>
              <a:rPr dirty="0" spc="-25"/>
              <a:t>Key</a:t>
            </a:r>
            <a:r>
              <a:rPr dirty="0"/>
              <a:t>	</a:t>
            </a:r>
            <a:r>
              <a:rPr dirty="0" spc="-20"/>
              <a:t>Risk</a:t>
            </a:r>
            <a:r>
              <a:rPr dirty="0"/>
              <a:t>	</a:t>
            </a:r>
            <a:r>
              <a:rPr dirty="0" spc="-10"/>
              <a:t>Indicators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89" y="3101454"/>
            <a:ext cx="6407950" cy="304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415847" y="2743111"/>
            <a:ext cx="2730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02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8547" y="3101454"/>
            <a:ext cx="6408064" cy="3047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415847" y="3290176"/>
            <a:ext cx="5853430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Shallow</a:t>
            </a:r>
            <a:r>
              <a:rPr dirty="0" sz="2200" spc="-75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Reduced</a:t>
            </a:r>
            <a:r>
              <a:rPr dirty="0" sz="1750" spc="-8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correlates</a:t>
            </a:r>
            <a:r>
              <a:rPr dirty="0" sz="1750" spc="-8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with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increased</a:t>
            </a:r>
            <a:r>
              <a:rPr dirty="0" sz="1750" spc="-8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energy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transfer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to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ocean</a:t>
            </a:r>
            <a:r>
              <a:rPr dirty="0" sz="1750" spc="-7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water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5110518"/>
            <a:ext cx="6407950" cy="3047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81089" y="2743111"/>
            <a:ext cx="6051550" cy="3661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01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Magnitude</a:t>
            </a:r>
            <a:r>
              <a:rPr dirty="0" sz="2200" spc="-1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Threshold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Earthquakes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above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7.5–8.0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show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significantly</a:t>
            </a:r>
            <a:r>
              <a:rPr dirty="0" sz="1750" spc="-5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higher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tsunami potential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03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Geographic</a:t>
            </a:r>
            <a:r>
              <a:rPr dirty="0" sz="2200" spc="-14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Clustering</a:t>
            </a:r>
            <a:endParaRPr sz="2200">
              <a:latin typeface="Arial"/>
              <a:cs typeface="Arial"/>
            </a:endParaRPr>
          </a:p>
          <a:p>
            <a:pPr marL="12700" marR="414020">
              <a:lnSpc>
                <a:spcPct val="109500"/>
              </a:lnSpc>
              <a:spcBef>
                <a:spcPts val="1085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Coastal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subduction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zones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demonstrate</a:t>
            </a:r>
            <a:r>
              <a:rPr dirty="0" sz="1750" spc="-4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concentrated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750" spc="-9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activity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15847" y="4774780"/>
            <a:ext cx="2730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EBECEF"/>
                </a:solidFill>
                <a:latin typeface="Arial"/>
                <a:cs typeface="Arial"/>
              </a:rPr>
              <a:t>04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8547" y="5110518"/>
            <a:ext cx="6408064" cy="3047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415847" y="5321858"/>
            <a:ext cx="6271895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r>
              <a:rPr dirty="0" sz="2200" spc="-8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EBECEF"/>
                </a:solidFill>
                <a:latin typeface="Arial"/>
                <a:cs typeface="Arial"/>
              </a:rPr>
              <a:t>Variability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1080"/>
              </a:spcBef>
            </a:pP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Greater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variation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in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depth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measurements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observed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for</a:t>
            </a:r>
            <a:r>
              <a:rPr dirty="0" sz="1750" spc="-6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tsunami- </a:t>
            </a:r>
            <a:r>
              <a:rPr dirty="0" sz="1750">
                <a:solidFill>
                  <a:srgbClr val="EBECEF"/>
                </a:solidFill>
                <a:latin typeface="Arial"/>
                <a:cs typeface="Arial"/>
              </a:rPr>
              <a:t>linked</a:t>
            </a:r>
            <a:r>
              <a:rPr dirty="0" sz="1750" spc="-7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EBECEF"/>
                </a:solidFill>
                <a:latin typeface="Arial"/>
                <a:cs typeface="Arial"/>
              </a:rPr>
              <a:t>earthquakes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79" y="0"/>
            <a:ext cx="576072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3225" y="554456"/>
            <a:ext cx="5982970" cy="1384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  <a:tabLst>
                <a:tab pos="3280410" algn="l"/>
                <a:tab pos="4350385" algn="l"/>
              </a:tabLst>
            </a:pPr>
            <a:r>
              <a:rPr dirty="0" sz="4100" spc="-10"/>
              <a:t>Conclusions</a:t>
            </a:r>
            <a:r>
              <a:rPr dirty="0" sz="4100"/>
              <a:t>	</a:t>
            </a:r>
            <a:r>
              <a:rPr dirty="0" sz="4100" spc="-25"/>
              <a:t>and</a:t>
            </a:r>
            <a:r>
              <a:rPr dirty="0" sz="4100"/>
              <a:t>	</a:t>
            </a:r>
            <a:r>
              <a:rPr dirty="0" sz="4100" spc="-10"/>
              <a:t>Future Applications</a:t>
            </a:r>
            <a:endParaRPr sz="4100"/>
          </a:p>
        </p:txBody>
      </p:sp>
      <p:grpSp>
        <p:nvGrpSpPr>
          <p:cNvPr id="4" name="object 4" descr=""/>
          <p:cNvGrpSpPr/>
          <p:nvPr/>
        </p:nvGrpSpPr>
        <p:grpSpPr>
          <a:xfrm>
            <a:off x="724495" y="2248738"/>
            <a:ext cx="3754120" cy="2891155"/>
            <a:chOff x="724495" y="2248738"/>
            <a:chExt cx="3754120" cy="2891155"/>
          </a:xfrm>
        </p:grpSpPr>
        <p:sp>
          <p:nvSpPr>
            <p:cNvPr id="5" name="object 5" descr=""/>
            <p:cNvSpPr/>
            <p:nvPr/>
          </p:nvSpPr>
          <p:spPr>
            <a:xfrm>
              <a:off x="735925" y="2260168"/>
              <a:ext cx="3731260" cy="2868295"/>
            </a:xfrm>
            <a:custGeom>
              <a:avLst/>
              <a:gdLst/>
              <a:ahLst/>
              <a:cxnLst/>
              <a:rect l="l" t="t" r="r" b="b"/>
              <a:pathLst>
                <a:path w="3731260" h="2868295">
                  <a:moveTo>
                    <a:pt x="3642639" y="0"/>
                  </a:moveTo>
                  <a:lnTo>
                    <a:pt x="88308" y="0"/>
                  </a:lnTo>
                  <a:lnTo>
                    <a:pt x="54072" y="6985"/>
                  </a:lnTo>
                  <a:lnTo>
                    <a:pt x="25987" y="25987"/>
                  </a:lnTo>
                  <a:lnTo>
                    <a:pt x="6985" y="54071"/>
                  </a:lnTo>
                  <a:lnTo>
                    <a:pt x="0" y="88303"/>
                  </a:lnTo>
                  <a:lnTo>
                    <a:pt x="0" y="2779788"/>
                  </a:lnTo>
                  <a:lnTo>
                    <a:pt x="6985" y="2814020"/>
                  </a:lnTo>
                  <a:lnTo>
                    <a:pt x="25987" y="2842104"/>
                  </a:lnTo>
                  <a:lnTo>
                    <a:pt x="54072" y="2861106"/>
                  </a:lnTo>
                  <a:lnTo>
                    <a:pt x="88308" y="2868091"/>
                  </a:lnTo>
                  <a:lnTo>
                    <a:pt x="3642639" y="2868091"/>
                  </a:lnTo>
                  <a:lnTo>
                    <a:pt x="3676871" y="2861106"/>
                  </a:lnTo>
                  <a:lnTo>
                    <a:pt x="3704955" y="2842104"/>
                  </a:lnTo>
                  <a:lnTo>
                    <a:pt x="3723956" y="2814020"/>
                  </a:lnTo>
                  <a:lnTo>
                    <a:pt x="3730942" y="2779788"/>
                  </a:lnTo>
                  <a:lnTo>
                    <a:pt x="3730942" y="88303"/>
                  </a:lnTo>
                  <a:lnTo>
                    <a:pt x="3723956" y="54071"/>
                  </a:lnTo>
                  <a:lnTo>
                    <a:pt x="3704955" y="25987"/>
                  </a:lnTo>
                  <a:lnTo>
                    <a:pt x="3676871" y="6985"/>
                  </a:lnTo>
                  <a:lnTo>
                    <a:pt x="3642639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35925" y="2260168"/>
              <a:ext cx="3731260" cy="2868295"/>
            </a:xfrm>
            <a:custGeom>
              <a:avLst/>
              <a:gdLst/>
              <a:ahLst/>
              <a:cxnLst/>
              <a:rect l="l" t="t" r="r" b="b"/>
              <a:pathLst>
                <a:path w="3731260" h="2868295">
                  <a:moveTo>
                    <a:pt x="0" y="88303"/>
                  </a:moveTo>
                  <a:lnTo>
                    <a:pt x="6985" y="54071"/>
                  </a:lnTo>
                  <a:lnTo>
                    <a:pt x="25987" y="25987"/>
                  </a:lnTo>
                  <a:lnTo>
                    <a:pt x="54072" y="6985"/>
                  </a:lnTo>
                  <a:lnTo>
                    <a:pt x="88308" y="0"/>
                  </a:lnTo>
                  <a:lnTo>
                    <a:pt x="3642639" y="0"/>
                  </a:lnTo>
                  <a:lnTo>
                    <a:pt x="3676871" y="6985"/>
                  </a:lnTo>
                  <a:lnTo>
                    <a:pt x="3704955" y="25987"/>
                  </a:lnTo>
                  <a:lnTo>
                    <a:pt x="3723956" y="54071"/>
                  </a:lnTo>
                  <a:lnTo>
                    <a:pt x="3730942" y="88303"/>
                  </a:lnTo>
                  <a:lnTo>
                    <a:pt x="3730942" y="2779788"/>
                  </a:lnTo>
                  <a:lnTo>
                    <a:pt x="3723956" y="2814020"/>
                  </a:lnTo>
                  <a:lnTo>
                    <a:pt x="3704955" y="2842104"/>
                  </a:lnTo>
                  <a:lnTo>
                    <a:pt x="3676871" y="2861106"/>
                  </a:lnTo>
                  <a:lnTo>
                    <a:pt x="3642639" y="2868091"/>
                  </a:lnTo>
                  <a:lnTo>
                    <a:pt x="88308" y="2868091"/>
                  </a:lnTo>
                  <a:lnTo>
                    <a:pt x="54072" y="2861106"/>
                  </a:lnTo>
                  <a:lnTo>
                    <a:pt x="25987" y="2842104"/>
                  </a:lnTo>
                  <a:lnTo>
                    <a:pt x="6985" y="2814020"/>
                  </a:lnTo>
                  <a:lnTo>
                    <a:pt x="0" y="2779788"/>
                  </a:lnTo>
                  <a:lnTo>
                    <a:pt x="0" y="88303"/>
                  </a:lnTo>
                  <a:close/>
                </a:path>
              </a:pathLst>
            </a:custGeom>
            <a:ln w="22860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9049" y="2493289"/>
              <a:ext cx="630792" cy="63079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56349" y="3340265"/>
            <a:ext cx="3285490" cy="1289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EBECEF"/>
                </a:solidFill>
                <a:latin typeface="Arial"/>
                <a:cs typeface="Arial"/>
              </a:rPr>
              <a:t>Seismic</a:t>
            </a:r>
            <a:r>
              <a:rPr dirty="0" sz="2050" spc="-7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EBECEF"/>
                </a:solidFill>
                <a:latin typeface="Arial"/>
                <a:cs typeface="Arial"/>
              </a:rPr>
              <a:t>Parameters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08600"/>
              </a:lnSpc>
              <a:spcBef>
                <a:spcPts val="1040"/>
              </a:spcBef>
            </a:pP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Magnitude,</a:t>
            </a:r>
            <a:r>
              <a:rPr dirty="0" sz="16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depth,</a:t>
            </a:r>
            <a:r>
              <a:rPr dirty="0" sz="16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and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geographical</a:t>
            </a:r>
            <a:r>
              <a:rPr dirty="0" sz="16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clustering</a:t>
            </a:r>
            <a:r>
              <a:rPr dirty="0" sz="16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play</a:t>
            </a:r>
            <a:r>
              <a:rPr dirty="0" sz="16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BECEF"/>
                </a:solidFill>
                <a:latin typeface="Arial"/>
                <a:cs typeface="Arial"/>
              </a:rPr>
              <a:t>crucial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roles</a:t>
            </a:r>
            <a:r>
              <a:rPr dirty="0" sz="1650" spc="-1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in</a:t>
            </a:r>
            <a:r>
              <a:rPr dirty="0" sz="1650" spc="-1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650" spc="-10">
                <a:solidFill>
                  <a:srgbClr val="EBECEF"/>
                </a:solidFill>
                <a:latin typeface="Arial"/>
                <a:cs typeface="Arial"/>
              </a:rPr>
              <a:t> generation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665700" y="2248738"/>
            <a:ext cx="3754120" cy="2891155"/>
            <a:chOff x="4665700" y="2248738"/>
            <a:chExt cx="3754120" cy="2891155"/>
          </a:xfrm>
        </p:grpSpPr>
        <p:sp>
          <p:nvSpPr>
            <p:cNvPr id="10" name="object 10" descr=""/>
            <p:cNvSpPr/>
            <p:nvPr/>
          </p:nvSpPr>
          <p:spPr>
            <a:xfrm>
              <a:off x="4677130" y="2260168"/>
              <a:ext cx="3731260" cy="2868295"/>
            </a:xfrm>
            <a:custGeom>
              <a:avLst/>
              <a:gdLst/>
              <a:ahLst/>
              <a:cxnLst/>
              <a:rect l="l" t="t" r="r" b="b"/>
              <a:pathLst>
                <a:path w="3731259" h="2868295">
                  <a:moveTo>
                    <a:pt x="3642639" y="0"/>
                  </a:moveTo>
                  <a:lnTo>
                    <a:pt x="88308" y="0"/>
                  </a:lnTo>
                  <a:lnTo>
                    <a:pt x="54072" y="6985"/>
                  </a:lnTo>
                  <a:lnTo>
                    <a:pt x="25987" y="25987"/>
                  </a:lnTo>
                  <a:lnTo>
                    <a:pt x="6985" y="54071"/>
                  </a:lnTo>
                  <a:lnTo>
                    <a:pt x="0" y="88303"/>
                  </a:lnTo>
                  <a:lnTo>
                    <a:pt x="0" y="2779788"/>
                  </a:lnTo>
                  <a:lnTo>
                    <a:pt x="6985" y="2814020"/>
                  </a:lnTo>
                  <a:lnTo>
                    <a:pt x="25987" y="2842104"/>
                  </a:lnTo>
                  <a:lnTo>
                    <a:pt x="54072" y="2861106"/>
                  </a:lnTo>
                  <a:lnTo>
                    <a:pt x="88308" y="2868091"/>
                  </a:lnTo>
                  <a:lnTo>
                    <a:pt x="3642639" y="2868091"/>
                  </a:lnTo>
                  <a:lnTo>
                    <a:pt x="3676871" y="2861106"/>
                  </a:lnTo>
                  <a:lnTo>
                    <a:pt x="3704955" y="2842104"/>
                  </a:lnTo>
                  <a:lnTo>
                    <a:pt x="3723956" y="2814020"/>
                  </a:lnTo>
                  <a:lnTo>
                    <a:pt x="3730942" y="2779788"/>
                  </a:lnTo>
                  <a:lnTo>
                    <a:pt x="3730942" y="88303"/>
                  </a:lnTo>
                  <a:lnTo>
                    <a:pt x="3723956" y="54071"/>
                  </a:lnTo>
                  <a:lnTo>
                    <a:pt x="3704955" y="25987"/>
                  </a:lnTo>
                  <a:lnTo>
                    <a:pt x="3676871" y="6985"/>
                  </a:lnTo>
                  <a:lnTo>
                    <a:pt x="3642639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77130" y="2260168"/>
              <a:ext cx="3731260" cy="2868295"/>
            </a:xfrm>
            <a:custGeom>
              <a:avLst/>
              <a:gdLst/>
              <a:ahLst/>
              <a:cxnLst/>
              <a:rect l="l" t="t" r="r" b="b"/>
              <a:pathLst>
                <a:path w="3731259" h="2868295">
                  <a:moveTo>
                    <a:pt x="0" y="88303"/>
                  </a:moveTo>
                  <a:lnTo>
                    <a:pt x="6985" y="54071"/>
                  </a:lnTo>
                  <a:lnTo>
                    <a:pt x="25987" y="25987"/>
                  </a:lnTo>
                  <a:lnTo>
                    <a:pt x="54072" y="6985"/>
                  </a:lnTo>
                  <a:lnTo>
                    <a:pt x="88308" y="0"/>
                  </a:lnTo>
                  <a:lnTo>
                    <a:pt x="3642639" y="0"/>
                  </a:lnTo>
                  <a:lnTo>
                    <a:pt x="3676871" y="6985"/>
                  </a:lnTo>
                  <a:lnTo>
                    <a:pt x="3704955" y="25987"/>
                  </a:lnTo>
                  <a:lnTo>
                    <a:pt x="3723956" y="54071"/>
                  </a:lnTo>
                  <a:lnTo>
                    <a:pt x="3730942" y="88303"/>
                  </a:lnTo>
                  <a:lnTo>
                    <a:pt x="3730942" y="2779788"/>
                  </a:lnTo>
                  <a:lnTo>
                    <a:pt x="3723956" y="2814020"/>
                  </a:lnTo>
                  <a:lnTo>
                    <a:pt x="3704955" y="2842104"/>
                  </a:lnTo>
                  <a:lnTo>
                    <a:pt x="3676871" y="2861106"/>
                  </a:lnTo>
                  <a:lnTo>
                    <a:pt x="3642639" y="2868091"/>
                  </a:lnTo>
                  <a:lnTo>
                    <a:pt x="88308" y="2868091"/>
                  </a:lnTo>
                  <a:lnTo>
                    <a:pt x="54072" y="2861106"/>
                  </a:lnTo>
                  <a:lnTo>
                    <a:pt x="25987" y="2842104"/>
                  </a:lnTo>
                  <a:lnTo>
                    <a:pt x="6985" y="2814020"/>
                  </a:lnTo>
                  <a:lnTo>
                    <a:pt x="0" y="2779788"/>
                  </a:lnTo>
                  <a:lnTo>
                    <a:pt x="0" y="88303"/>
                  </a:lnTo>
                  <a:close/>
                </a:path>
              </a:pathLst>
            </a:custGeom>
            <a:ln w="22860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0251" y="2493289"/>
              <a:ext cx="630792" cy="630796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4897551" y="3340265"/>
            <a:ext cx="2808605" cy="1289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EBECEF"/>
                </a:solidFill>
                <a:latin typeface="Arial"/>
                <a:cs typeface="Arial"/>
              </a:rPr>
              <a:t>Risk</a:t>
            </a:r>
            <a:r>
              <a:rPr dirty="0" sz="2050" spc="-10" b="1">
                <a:solidFill>
                  <a:srgbClr val="EBECEF"/>
                </a:solidFill>
                <a:latin typeface="Arial"/>
                <a:cs typeface="Arial"/>
              </a:rPr>
              <a:t> Assessment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08600"/>
              </a:lnSpc>
              <a:spcBef>
                <a:spcPts val="1040"/>
              </a:spcBef>
            </a:pP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Visual</a:t>
            </a:r>
            <a:r>
              <a:rPr dirty="0" sz="16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statistical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BECEF"/>
                </a:solidFill>
                <a:latin typeface="Arial"/>
                <a:cs typeface="Arial"/>
              </a:rPr>
              <a:t>analyses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provide</a:t>
            </a:r>
            <a:r>
              <a:rPr dirty="0" sz="16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strong</a:t>
            </a:r>
            <a:r>
              <a:rPr dirty="0" sz="16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foundation</a:t>
            </a:r>
            <a:r>
              <a:rPr dirty="0" sz="16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for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identifying</a:t>
            </a:r>
            <a:r>
              <a:rPr dirty="0" sz="16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tsunami</a:t>
            </a:r>
            <a:r>
              <a:rPr dirty="0" sz="1650" spc="-3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BECEF"/>
                </a:solidFill>
                <a:latin typeface="Arial"/>
                <a:cs typeface="Arial"/>
              </a:rPr>
              <a:t>risks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24495" y="5327091"/>
            <a:ext cx="7695565" cy="2345055"/>
            <a:chOff x="724495" y="5327091"/>
            <a:chExt cx="7695565" cy="2345055"/>
          </a:xfrm>
        </p:grpSpPr>
        <p:sp>
          <p:nvSpPr>
            <p:cNvPr id="15" name="object 15" descr=""/>
            <p:cNvSpPr/>
            <p:nvPr/>
          </p:nvSpPr>
          <p:spPr>
            <a:xfrm>
              <a:off x="735925" y="5338521"/>
              <a:ext cx="7672705" cy="2322195"/>
            </a:xfrm>
            <a:custGeom>
              <a:avLst/>
              <a:gdLst/>
              <a:ahLst/>
              <a:cxnLst/>
              <a:rect l="l" t="t" r="r" b="b"/>
              <a:pathLst>
                <a:path w="7672705" h="2322195">
                  <a:moveTo>
                    <a:pt x="7583830" y="0"/>
                  </a:moveTo>
                  <a:lnTo>
                    <a:pt x="88313" y="0"/>
                  </a:lnTo>
                  <a:lnTo>
                    <a:pt x="54075" y="6985"/>
                  </a:lnTo>
                  <a:lnTo>
                    <a:pt x="25988" y="25988"/>
                  </a:lnTo>
                  <a:lnTo>
                    <a:pt x="6986" y="54076"/>
                  </a:lnTo>
                  <a:lnTo>
                    <a:pt x="0" y="88315"/>
                  </a:lnTo>
                  <a:lnTo>
                    <a:pt x="0" y="2233282"/>
                  </a:lnTo>
                  <a:lnTo>
                    <a:pt x="6986" y="2267521"/>
                  </a:lnTo>
                  <a:lnTo>
                    <a:pt x="25988" y="2295609"/>
                  </a:lnTo>
                  <a:lnTo>
                    <a:pt x="54075" y="2314612"/>
                  </a:lnTo>
                  <a:lnTo>
                    <a:pt x="88313" y="2321598"/>
                  </a:lnTo>
                  <a:lnTo>
                    <a:pt x="7583830" y="2321598"/>
                  </a:lnTo>
                  <a:lnTo>
                    <a:pt x="7618069" y="2314612"/>
                  </a:lnTo>
                  <a:lnTo>
                    <a:pt x="7646157" y="2295609"/>
                  </a:lnTo>
                  <a:lnTo>
                    <a:pt x="7665160" y="2267521"/>
                  </a:lnTo>
                  <a:lnTo>
                    <a:pt x="7672146" y="2233282"/>
                  </a:lnTo>
                  <a:lnTo>
                    <a:pt x="7672146" y="88315"/>
                  </a:lnTo>
                  <a:lnTo>
                    <a:pt x="7665160" y="54076"/>
                  </a:lnTo>
                  <a:lnTo>
                    <a:pt x="7646157" y="25988"/>
                  </a:lnTo>
                  <a:lnTo>
                    <a:pt x="7618069" y="6985"/>
                  </a:lnTo>
                  <a:lnTo>
                    <a:pt x="7583830" y="0"/>
                  </a:lnTo>
                  <a:close/>
                </a:path>
              </a:pathLst>
            </a:custGeom>
            <a:solidFill>
              <a:srgbClr val="10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5925" y="5338521"/>
              <a:ext cx="7672705" cy="2322195"/>
            </a:xfrm>
            <a:custGeom>
              <a:avLst/>
              <a:gdLst/>
              <a:ahLst/>
              <a:cxnLst/>
              <a:rect l="l" t="t" r="r" b="b"/>
              <a:pathLst>
                <a:path w="7672705" h="2322195">
                  <a:moveTo>
                    <a:pt x="0" y="88315"/>
                  </a:moveTo>
                  <a:lnTo>
                    <a:pt x="6986" y="54076"/>
                  </a:lnTo>
                  <a:lnTo>
                    <a:pt x="25988" y="25988"/>
                  </a:lnTo>
                  <a:lnTo>
                    <a:pt x="54075" y="6985"/>
                  </a:lnTo>
                  <a:lnTo>
                    <a:pt x="88313" y="0"/>
                  </a:lnTo>
                  <a:lnTo>
                    <a:pt x="7583830" y="0"/>
                  </a:lnTo>
                  <a:lnTo>
                    <a:pt x="7618069" y="6985"/>
                  </a:lnTo>
                  <a:lnTo>
                    <a:pt x="7646157" y="25988"/>
                  </a:lnTo>
                  <a:lnTo>
                    <a:pt x="7665160" y="54076"/>
                  </a:lnTo>
                  <a:lnTo>
                    <a:pt x="7672146" y="88315"/>
                  </a:lnTo>
                  <a:lnTo>
                    <a:pt x="7672146" y="2233282"/>
                  </a:lnTo>
                  <a:lnTo>
                    <a:pt x="7665160" y="2267521"/>
                  </a:lnTo>
                  <a:lnTo>
                    <a:pt x="7646157" y="2295609"/>
                  </a:lnTo>
                  <a:lnTo>
                    <a:pt x="7618069" y="2314612"/>
                  </a:lnTo>
                  <a:lnTo>
                    <a:pt x="7583830" y="2321598"/>
                  </a:lnTo>
                  <a:lnTo>
                    <a:pt x="88313" y="2321598"/>
                  </a:lnTo>
                  <a:lnTo>
                    <a:pt x="54075" y="2314612"/>
                  </a:lnTo>
                  <a:lnTo>
                    <a:pt x="25988" y="2295609"/>
                  </a:lnTo>
                  <a:lnTo>
                    <a:pt x="6986" y="2267521"/>
                  </a:lnTo>
                  <a:lnTo>
                    <a:pt x="0" y="2233282"/>
                  </a:lnTo>
                  <a:lnTo>
                    <a:pt x="0" y="88315"/>
                  </a:lnTo>
                  <a:close/>
                </a:path>
              </a:pathLst>
            </a:custGeom>
            <a:ln w="22860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9049" y="5571655"/>
              <a:ext cx="630792" cy="630796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956349" y="6418618"/>
            <a:ext cx="7105015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EBECEF"/>
                </a:solidFill>
                <a:latin typeface="Arial"/>
                <a:cs typeface="Arial"/>
              </a:rPr>
              <a:t>Future</a:t>
            </a:r>
            <a:r>
              <a:rPr dirty="0" sz="2050" spc="-30" b="1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EBECEF"/>
                </a:solidFill>
                <a:latin typeface="Arial"/>
                <a:cs typeface="Arial"/>
              </a:rPr>
              <a:t>Monitoring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08600"/>
              </a:lnSpc>
              <a:spcBef>
                <a:spcPts val="1040"/>
              </a:spcBef>
            </a:pP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Findings</a:t>
            </a:r>
            <a:r>
              <a:rPr dirty="0" sz="1650" spc="-30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enable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improved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earthquake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monitoring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systems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and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BECEF"/>
                </a:solidFill>
                <a:latin typeface="Arial"/>
                <a:cs typeface="Arial"/>
              </a:rPr>
              <a:t>early</a:t>
            </a:r>
            <a:r>
              <a:rPr dirty="0" sz="1650" spc="-25">
                <a:solidFill>
                  <a:srgbClr val="EBECE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BECEF"/>
                </a:solidFill>
                <a:latin typeface="Arial"/>
                <a:cs typeface="Arial"/>
              </a:rPr>
              <a:t>warning capabilities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2025-11-01T13:03:44Z</dcterms:created>
  <dcterms:modified xsi:type="dcterms:W3CDTF">2025-11-01T13:03:44Z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LastSaved">
    <vt:filetime>2025-11-01T00:00:00Z</vt:filetime>
  </property>
  <property fmtid="{D5CDD505-2E9C-101B-9397-08002B2CF9AE}" pid="4" name="Producer">
    <vt:lpwstr>3-Heights(TM) PDF Security Shell 4.8.25.2 (http://www.pdf-tools.com)</vt:lpwstr>
  </property>
</Properties>
</file>